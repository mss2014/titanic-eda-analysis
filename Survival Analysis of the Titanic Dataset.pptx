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B6A3AEE-E7E0-499F-ACE2-29863D15243B}">
          <p14:sldIdLst>
            <p14:sldId id="259"/>
            <p14:sldId id="258"/>
            <p14:sldId id="260"/>
            <p14:sldId id="261"/>
            <p14:sldId id="262"/>
            <p14:sldId id="263"/>
            <p14:sldId id="264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TAFA SYED SIDDIQUE" userId="f5af13b61f722a70" providerId="LiveId" clId="{D62B43E6-21CF-4718-A1DA-CB9395023901}"/>
    <pc:docChg chg="custSel addSld delSld modSld modSection">
      <pc:chgData name="MUSTAFA SYED SIDDIQUE" userId="f5af13b61f722a70" providerId="LiveId" clId="{D62B43E6-21CF-4718-A1DA-CB9395023901}" dt="2025-04-14T16:57:09.748" v="23" actId="14100"/>
      <pc:docMkLst>
        <pc:docMk/>
      </pc:docMkLst>
      <pc:sldChg chg="modSp mod">
        <pc:chgData name="MUSTAFA SYED SIDDIQUE" userId="f5af13b61f722a70" providerId="LiveId" clId="{D62B43E6-21CF-4718-A1DA-CB9395023901}" dt="2025-04-14T16:56:38.247" v="20" actId="14100"/>
        <pc:sldMkLst>
          <pc:docMk/>
          <pc:sldMk cId="1204205487" sldId="260"/>
        </pc:sldMkLst>
        <pc:picChg chg="mod modCrop">
          <ac:chgData name="MUSTAFA SYED SIDDIQUE" userId="f5af13b61f722a70" providerId="LiveId" clId="{D62B43E6-21CF-4718-A1DA-CB9395023901}" dt="2025-04-14T16:56:38.247" v="20" actId="14100"/>
          <ac:picMkLst>
            <pc:docMk/>
            <pc:sldMk cId="1204205487" sldId="260"/>
            <ac:picMk id="6" creationId="{295BBC76-25F3-4481-B5A9-F404B7C187A7}"/>
          </ac:picMkLst>
        </pc:picChg>
      </pc:sldChg>
      <pc:sldChg chg="modSp mod">
        <pc:chgData name="MUSTAFA SYED SIDDIQUE" userId="f5af13b61f722a70" providerId="LiveId" clId="{D62B43E6-21CF-4718-A1DA-CB9395023901}" dt="2025-04-14T16:56:59.003" v="22" actId="14100"/>
        <pc:sldMkLst>
          <pc:docMk/>
          <pc:sldMk cId="1380330665" sldId="263"/>
        </pc:sldMkLst>
        <pc:picChg chg="mod modCrop">
          <ac:chgData name="MUSTAFA SYED SIDDIQUE" userId="f5af13b61f722a70" providerId="LiveId" clId="{D62B43E6-21CF-4718-A1DA-CB9395023901}" dt="2025-04-14T16:56:59.003" v="22" actId="14100"/>
          <ac:picMkLst>
            <pc:docMk/>
            <pc:sldMk cId="1380330665" sldId="263"/>
            <ac:picMk id="6" creationId="{E10DBCCD-39CF-43F4-C1FC-FB7F0014C147}"/>
          </ac:picMkLst>
        </pc:picChg>
      </pc:sldChg>
      <pc:sldChg chg="modSp mod">
        <pc:chgData name="MUSTAFA SYED SIDDIQUE" userId="f5af13b61f722a70" providerId="LiveId" clId="{D62B43E6-21CF-4718-A1DA-CB9395023901}" dt="2025-04-14T16:57:09.748" v="23" actId="14100"/>
        <pc:sldMkLst>
          <pc:docMk/>
          <pc:sldMk cId="1558151071" sldId="264"/>
        </pc:sldMkLst>
        <pc:picChg chg="mod">
          <ac:chgData name="MUSTAFA SYED SIDDIQUE" userId="f5af13b61f722a70" providerId="LiveId" clId="{D62B43E6-21CF-4718-A1DA-CB9395023901}" dt="2025-04-14T16:57:09.748" v="23" actId="14100"/>
          <ac:picMkLst>
            <pc:docMk/>
            <pc:sldMk cId="1558151071" sldId="264"/>
            <ac:picMk id="6" creationId="{0104DF24-AEB5-7241-F9E9-69F3C599B082}"/>
          </ac:picMkLst>
        </pc:picChg>
      </pc:sldChg>
      <pc:sldChg chg="new del">
        <pc:chgData name="MUSTAFA SYED SIDDIQUE" userId="f5af13b61f722a70" providerId="LiveId" clId="{D62B43E6-21CF-4718-A1DA-CB9395023901}" dt="2025-04-14T16:55:17.862" v="4" actId="2696"/>
        <pc:sldMkLst>
          <pc:docMk/>
          <pc:sldMk cId="1924327944" sldId="265"/>
        </pc:sldMkLst>
      </pc:sldChg>
      <pc:sldChg chg="modSp new mod">
        <pc:chgData name="MUSTAFA SYED SIDDIQUE" userId="f5af13b61f722a70" providerId="LiveId" clId="{D62B43E6-21CF-4718-A1DA-CB9395023901}" dt="2025-04-14T16:56:01.963" v="18" actId="2711"/>
        <pc:sldMkLst>
          <pc:docMk/>
          <pc:sldMk cId="564554002" sldId="266"/>
        </pc:sldMkLst>
        <pc:spChg chg="mod">
          <ac:chgData name="MUSTAFA SYED SIDDIQUE" userId="f5af13b61f722a70" providerId="LiveId" clId="{D62B43E6-21CF-4718-A1DA-CB9395023901}" dt="2025-04-14T16:56:01.963" v="18" actId="2711"/>
          <ac:spMkLst>
            <pc:docMk/>
            <pc:sldMk cId="564554002" sldId="266"/>
            <ac:spMk id="2" creationId="{D5EE08BD-607B-2DF4-1222-F8D56F8B01DF}"/>
          </ac:spMkLst>
        </pc:spChg>
        <pc:spChg chg="mod">
          <ac:chgData name="MUSTAFA SYED SIDDIQUE" userId="f5af13b61f722a70" providerId="LiveId" clId="{D62B43E6-21CF-4718-A1DA-CB9395023901}" dt="2025-04-14T16:55:47.331" v="17" actId="27636"/>
          <ac:spMkLst>
            <pc:docMk/>
            <pc:sldMk cId="564554002" sldId="266"/>
            <ac:spMk id="3" creationId="{1732DCFE-7F99-7B4A-F045-EE2BDD452358}"/>
          </ac:spMkLst>
        </pc:spChg>
      </pc:sldChg>
      <pc:sldChg chg="modSp del mod">
        <pc:chgData name="MUSTAFA SYED SIDDIQUE" userId="f5af13b61f722a70" providerId="LiveId" clId="{D62B43E6-21CF-4718-A1DA-CB9395023901}" dt="2025-04-14T16:53:49.381" v="1" actId="2696"/>
        <pc:sldMkLst>
          <pc:docMk/>
          <pc:sldMk cId="2865407442" sldId="266"/>
        </pc:sldMkLst>
        <pc:spChg chg="mod">
          <ac:chgData name="MUSTAFA SYED SIDDIQUE" userId="f5af13b61f722a70" providerId="LiveId" clId="{D62B43E6-21CF-4718-A1DA-CB9395023901}" dt="2025-04-14T16:53:43.281" v="0" actId="6549"/>
          <ac:spMkLst>
            <pc:docMk/>
            <pc:sldMk cId="2865407442" sldId="266"/>
            <ac:spMk id="3" creationId="{0D66B743-EE19-A878-4824-EF5C21E912E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FD490-7670-47C1-B780-1F2F5BE8F930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895D7-44E5-49A4-AAC6-3A7BADFE2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51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D895D7-44E5-49A4-AAC6-3A7BADFE2B0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674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068F-B87B-5F69-810B-5A9683A88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98B56-B81C-8DE2-9E70-EB140C38F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6047E-2AF1-7440-8443-D74D1A878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8627-C0D5-401B-9DAB-95D6D4D2787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AEED-03FB-B7D2-91D0-2F532546A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B8D22-FAE8-943B-598A-0CA1B7C97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4C5F-A6D8-4612-8D07-23DDCDABA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95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E4175-4CBD-3265-E0AF-6ED142756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EEB2E-B8A6-96E4-A6E8-3C9BAC684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9B2C5-0CEB-8BAE-2793-79EA748A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8627-C0D5-401B-9DAB-95D6D4D2787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DDD70-EC2F-8DEE-6CE7-59C45F497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FCF44-3F00-B9B0-1ADB-1386682B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4C5F-A6D8-4612-8D07-23DDCDABA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341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44DF2-20B1-12A5-A262-2FE6F4E7D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2FAC3-1B47-BFD5-7A96-B59C855AA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AA47F-BFC8-2127-7E19-E368F1D62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8627-C0D5-401B-9DAB-95D6D4D2787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6D019-6FB2-1795-2C93-05F8C4D6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7087B-FB95-F6E3-7E4D-5D5B9C81C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4C5F-A6D8-4612-8D07-23DDCDABA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067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115DF-7578-FBC6-58F0-92BD16B4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0A6E8-2A75-34CF-EB2C-EB4E32ECC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3FF21-5A6C-E2A0-45F8-795CEE114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56645-68CC-1C1B-BBBD-7234D335B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8627-C0D5-401B-9DAB-95D6D4D2787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3DF04-3CA6-3F18-88B5-B29F5FC8F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02336-6160-3958-26D0-CC0666BBD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4C5F-A6D8-4612-8D07-23DDCDABA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669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6A8F-5DD4-5405-69FC-C3420A617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F14E4-15DF-2039-CC06-1CED8A37D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214C9-CB06-272B-5776-9E3530BC5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E2AADE-7D25-E25E-4C76-2688C1B7D5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B0449E-0DBD-9C34-1A04-22DDC78CB9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8E432C-B14D-ADD8-EB62-035D3987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8627-C0D5-401B-9DAB-95D6D4D2787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3D5563-FBC0-0547-DFD7-65439F71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501A5E-BB83-52F2-925E-ED11B0566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4C5F-A6D8-4612-8D07-23DDCDABA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87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B2CDC-8468-7A3D-B24E-36BD09B5E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35AB3E-7D71-6F65-9962-0750C285F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8627-C0D5-401B-9DAB-95D6D4D2787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5CD0D-1014-6210-1614-E551E16D5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2D520-801D-09D4-2FB2-E8AFAF41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4C5F-A6D8-4612-8D07-23DDCDABA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562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07551-E29F-2F04-70CB-2526D7D7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8627-C0D5-401B-9DAB-95D6D4D2787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172955-24F2-8BCC-4627-7C31AC3A3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301AF-D7BE-C279-D259-91CF36CD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4C5F-A6D8-4612-8D07-23DDCDABA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269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56C0-F54B-929F-6063-E1CD1E65B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1F181-6E88-85AE-5F07-5F1B1B6FF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B0A36B-F8B8-1F2D-3DDB-91FE912BE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6A8AF-AC02-D417-BCD5-02FA6BDB3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8627-C0D5-401B-9DAB-95D6D4D2787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E36B9-7482-D080-EE77-CD3853C18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F8869-4C59-1ECC-DDE7-2BC12944F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4C5F-A6D8-4612-8D07-23DDCDABA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881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E2D3-914E-D14C-1191-89E02E9F6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6F7CCF-F98B-7E75-F814-56EB5920E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F8EF7-150E-CC9F-8D28-70ED7984D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FDECC-C420-9A7F-1568-A5FDF7D38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8627-C0D5-401B-9DAB-95D6D4D2787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E4330-B620-95E7-A1B4-7D6529E2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DD357-72E9-9D4E-91AF-F9EEB256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4C5F-A6D8-4612-8D07-23DDCDABA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22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15319-8A66-13D3-BD03-B515E32ED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9ADCB-CDC0-D3E1-5434-6E689CC4C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AE599-0AB5-F8A2-D4B5-3D2DEDD9F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8627-C0D5-401B-9DAB-95D6D4D2787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D4ED5-B9AE-3B10-81F4-94E4118AA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A62DA-2C1A-C4E3-01E6-2326141C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4C5F-A6D8-4612-8D07-23DDCDABA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515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32BE63-13E5-5BDC-A31D-36CD9A466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7ED99-6097-B516-6119-B9BE82E3B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8008D-F0F0-2D82-878E-C5D6BD65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8627-C0D5-401B-9DAB-95D6D4D2787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17167-B1D5-E7CC-5095-AAC0796D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A221D-02B1-F046-FD60-7C9EB2757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4C5F-A6D8-4612-8D07-23DDCDABA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1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61F54-B1BD-FBF7-3D24-2C464086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1E6E1-A305-6C2B-E72A-745FE01DC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58F5C-0697-6CE8-6F58-0FB7F635C9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58627-C0D5-401B-9DAB-95D6D4D27873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7FD0E-FF8B-A81B-B921-D29C09920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4EB1-E2D8-4CFE-D66E-6A1B218351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A4C5F-A6D8-4612-8D07-23DDCDABA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49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8147CA0-370A-A973-CDAF-536E302D20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Survival Analysis of the Titanic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9B0311E-970D-6EF2-3777-B1A503370D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614312"/>
            <a:ext cx="91440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Factors Influencing Passenger Survival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Presenter: Mustafa Syed Siddique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Date: 14-04-2025</a:t>
            </a:r>
          </a:p>
        </p:txBody>
      </p:sp>
    </p:spTree>
    <p:extLst>
      <p:ext uri="{BB962C8B-B14F-4D97-AF65-F5344CB8AC3E}">
        <p14:creationId xmlns:p14="http://schemas.microsoft.com/office/powerpoint/2010/main" val="252172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76F84-B734-D338-452B-FE4A80EE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ahnschrift Light Condensed" panose="020B0502040204020203" pitchFamily="34" charset="0"/>
              </a:rPr>
              <a:t>Survival Rate by Gender</a:t>
            </a:r>
            <a:endParaRPr lang="en-IN" sz="3600" b="1" dirty="0">
              <a:latin typeface="Bahnschrift Light Condensed" panose="020B0502040204020203" pitchFamily="34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CEC842A-567D-BD4D-A79C-653F9B728DF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5" t="15041" r="44433" b="-147"/>
          <a:stretch/>
        </p:blipFill>
        <p:spPr>
          <a:xfrm>
            <a:off x="5010467" y="457200"/>
            <a:ext cx="7074487" cy="541178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64F63-C016-039A-B013-0237937AC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buNone/>
            </a:pPr>
            <a:r>
              <a:rPr lang="en-US" sz="2400" b="1" dirty="0">
                <a:latin typeface="Bahnschrift Condensed" panose="020B0502040204020203" pitchFamily="34" charset="0"/>
              </a:rPr>
              <a:t>Summary of Findings:</a:t>
            </a:r>
            <a:endParaRPr lang="en-US" sz="2400" dirty="0">
              <a:latin typeface="Bahnschrift Condensed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analysis reveals a significant disparity in survival rates based on gender. </a:t>
            </a:r>
            <a:r>
              <a:rPr lang="en-US" sz="2000" b="1" dirty="0"/>
              <a:t>Females exhibited a substantially higher survival rate compared to males.</a:t>
            </a:r>
            <a:r>
              <a:rPr lang="en-US" sz="2000" dirty="0"/>
              <a:t> This suggests that gender played a crucial role in determining survival outcomes within the dataset.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723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93C0-0B12-0755-85F7-A4A18315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Bahnschrift Light Condensed" panose="020B0502040204020203" pitchFamily="34" charset="0"/>
              </a:rPr>
              <a:t>Survival Rate by Passenger Class</a:t>
            </a:r>
            <a:endParaRPr lang="en-IN" b="1" dirty="0">
              <a:latin typeface="Bahnschrift Light Condensed" panose="020B0502040204020203" pitchFamily="34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95BBC76-25F3-4481-B5A9-F404B7C187A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" t="14971" r="27689" b="-164"/>
          <a:stretch/>
        </p:blipFill>
        <p:spPr>
          <a:xfrm>
            <a:off x="5110479" y="457201"/>
            <a:ext cx="6241733" cy="541178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AF1D6-3CF0-658D-0121-1DD6FDC92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Summary of Findings: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Condensed" panose="020B0502040204020203" pitchFamily="34" charset="0"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analysis clearly demonstrates a strong inverse relationship between passenger class and survival rate. </a:t>
            </a:r>
            <a:r>
              <a:rPr lang="en-US" sz="2000" b="1" dirty="0"/>
              <a:t>First-class passengers exhibited the highest survival rate, followed by second-class, with third-class passengers experiencing the lowest survival rate.</a:t>
            </a:r>
            <a:r>
              <a:rPr lang="en-US" sz="2000" dirty="0"/>
              <a:t> This suggests a significant impact of socioeconomic status, as reflected by passenger class, on survival outcomes within the dataset.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04205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C825-A39D-1E80-78E9-2CA8BC648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Bahnschrift Light Condensed" panose="020B0502040204020203" pitchFamily="34" charset="0"/>
              </a:rPr>
              <a:t>Age Distribution by </a:t>
            </a:r>
            <a:br>
              <a:rPr lang="en-US" sz="3600" b="1" dirty="0">
                <a:latin typeface="Bahnschrift Light Condensed" panose="020B0502040204020203" pitchFamily="34" charset="0"/>
              </a:rPr>
            </a:br>
            <a:r>
              <a:rPr lang="en-US" sz="3600" b="1" dirty="0">
                <a:latin typeface="Bahnschrift Light Condensed" panose="020B0502040204020203" pitchFamily="34" charset="0"/>
              </a:rPr>
              <a:t>Survival</a:t>
            </a:r>
            <a:endParaRPr lang="en-IN" sz="3600" b="1" dirty="0">
              <a:latin typeface="Bahnschrift Light Condensed" panose="020B0502040204020203" pitchFamily="34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0EA4239-9E83-32BA-7FBF-5EE16A467B0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5" t="16639" r="25977"/>
          <a:stretch/>
        </p:blipFill>
        <p:spPr>
          <a:xfrm>
            <a:off x="5080000" y="457200"/>
            <a:ext cx="6272212" cy="541178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E8534-F7DC-6DB8-497E-00B682EF7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Summary of Findings: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Condensed" panose="020B0502040204020203" pitchFamily="34" charset="0"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The age distribution analysis reveals a clear relationship between age and survival. </a:t>
            </a:r>
            <a:r>
              <a:rPr lang="en-US" sz="1900" b="1" dirty="0"/>
              <a:t>Younger individuals, particularly children and young adults, exhibited a higher likelihood of survival.</a:t>
            </a:r>
            <a:r>
              <a:rPr lang="en-US" sz="1900" dirty="0"/>
              <a:t> Conversely, </a:t>
            </a:r>
            <a:r>
              <a:rPr lang="en-US" sz="1900" b="1" dirty="0"/>
              <a:t>individuals in their prime adult years (20s-40s) experienced a higher rate of non-survival</a:t>
            </a:r>
            <a:r>
              <a:rPr lang="en-US" sz="1900" dirty="0"/>
              <a:t>, and </a:t>
            </a:r>
            <a:r>
              <a:rPr lang="en-US" sz="1900" b="1" dirty="0"/>
              <a:t>survival rates significantly decreased with increasing age.</a:t>
            </a:r>
            <a:r>
              <a:rPr lang="en-US" sz="1900" dirty="0"/>
              <a:t> This suggests that age played a crucial role in survival outcomes, with potential prioritization of younger individuals during the event represented by this dataset.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572095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0D3FA-7FDB-C94F-8626-38D1325B3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Bahnschrift Light Condensed" panose="020B0502040204020203" pitchFamily="34" charset="0"/>
              </a:rPr>
              <a:t>Fare Distribution by Survival</a:t>
            </a:r>
            <a:endParaRPr lang="en-IN" sz="3600" b="1" dirty="0">
              <a:latin typeface="Bahnschrift Light Condensed" panose="020B0502040204020203" pitchFamily="34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E4A5007-888E-CB01-BC02-0BA9B92D245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1" r="8009" b="2150"/>
          <a:stretch/>
        </p:blipFill>
        <p:spPr>
          <a:xfrm>
            <a:off x="5213668" y="457200"/>
            <a:ext cx="6138544" cy="541178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3C82C-F6EB-A89C-59C8-C59D32F02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Summary of Findings: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Condensed" panose="020B0502040204020203" pitchFamily="34" charset="0"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boxplot analysis indicates a correlation between fare paid and survival. </a:t>
            </a:r>
            <a:r>
              <a:rPr lang="en-US" sz="2000" b="1" dirty="0"/>
              <a:t>Survivors, on average, paid significantly higher fares</a:t>
            </a:r>
            <a:r>
              <a:rPr lang="en-US" sz="2000" dirty="0"/>
              <a:t> compared to those who did not survive. This suggests that passengers who paid more for their tickets had a greater likelihood of survival. Additionally, the fare distribution for survivors shows more variability, with several high-fare outliers, implying that passengers in higher fare categories had a distinct survival advantage.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66924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10DBCCD-39CF-43F4-C1FC-FB7F0014C14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" t="18204" r="3798"/>
          <a:stretch/>
        </p:blipFill>
        <p:spPr>
          <a:xfrm>
            <a:off x="5183188" y="989012"/>
            <a:ext cx="6551612" cy="487997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384E0-1749-B24A-DC08-6E9684910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Summary of Findings: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Condensed" panose="020B0502040204020203" pitchFamily="34" charset="0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correlation heatmap reveals notable relationships between features in the dataset.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Passenger class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Pclass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shows a moderate negative correlation with survival (Survived), indicating that lower classes had lower survival rates.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Fare (Fare) exhibits a moderate positive correlation with survival, suggesting that higher fares were associated with increased survival.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There's a strong negative correlation between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Pclass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Fare, reflecting that lower classes generally paid lower fares.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SibSp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Parch show a moderate positive correlation, suggesting a relationship between family size variables.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Age (Age) demonstrates relatively weak correlations with other features.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Overall, the analysis highlights the impact of socioeconomic factors (class and fare) on survival outcomes, while age shows less influence. 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4C65CC7-3A31-AD65-6596-753EE27F6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9788" y="989012"/>
            <a:ext cx="393223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Correlation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330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28E28-288D-BB49-BABF-68DFB9BAF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Bahnschrift Light Condensed" panose="020B0502040204020203" pitchFamily="34" charset="0"/>
              </a:rPr>
              <a:t>Passenger Age Distribution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104DF24-AEB5-7241-F9E9-69F3C599B08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83" r="30890" b="-33"/>
          <a:stretch/>
        </p:blipFill>
        <p:spPr>
          <a:xfrm>
            <a:off x="5183188" y="1148080"/>
            <a:ext cx="6169024" cy="472090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6168B5-3D2F-223B-DDAA-066C7C573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Summary of Findings: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Condensed" panose="020B0502040204020203" pitchFamily="34" charset="0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age distribution of the dataset is concentrated around the mid-20s, with a right-skewed pattern. There's a noticeable decrease in frequency towards both very young and older ages. The majority of individuals fall within the 0-50 age range, with a peak around 25 years old, followed by a gradual decline in the number of individuals as age increases.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58151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08BD-607B-2DF4-1222-F8D56F8B0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2DCFE-7F99-7B4A-F045-EE2BDD452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The Titanic dataset reveals strong patterns in passenger survival.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/>
              <a:t>Gender, class, and fare paid</a:t>
            </a:r>
            <a:r>
              <a:rPr lang="en-US" sz="3000" dirty="0"/>
              <a:t> are key predictors of survival: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b="1" dirty="0"/>
              <a:t>Females and 1st class passengers</a:t>
            </a:r>
            <a:r>
              <a:rPr lang="en-US" sz="3000" dirty="0"/>
              <a:t> had the highest survival rates.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b="1" dirty="0"/>
              <a:t>Higher fare</a:t>
            </a:r>
            <a:r>
              <a:rPr lang="en-US" sz="3000" dirty="0"/>
              <a:t> generally correlated with increased chances of survival.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/>
              <a:t>Children</a:t>
            </a:r>
            <a:r>
              <a:rPr lang="en-US" sz="3000" dirty="0"/>
              <a:t> had better chances than adults or the elderly.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Passengers </a:t>
            </a:r>
            <a:r>
              <a:rPr lang="en-US" sz="3000" b="1" dirty="0"/>
              <a:t>traveling alone</a:t>
            </a:r>
            <a:r>
              <a:rPr lang="en-US" sz="3000" dirty="0"/>
              <a:t> were less likely to survive than those with small families.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These insights highlight the </a:t>
            </a:r>
            <a:r>
              <a:rPr lang="en-US" sz="3000" b="1" dirty="0"/>
              <a:t>impact of social and economic factors</a:t>
            </a:r>
            <a:r>
              <a:rPr lang="en-US" sz="3000" dirty="0"/>
              <a:t> during the disaster.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The analysis forms a strong foundation for building </a:t>
            </a:r>
            <a:r>
              <a:rPr lang="en-US" sz="3000" b="1" dirty="0"/>
              <a:t>predictive models</a:t>
            </a:r>
            <a:r>
              <a:rPr lang="en-US" sz="3000" dirty="0"/>
              <a:t> using machine learning.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554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614</Words>
  <Application>Microsoft Office PowerPoint</Application>
  <PresentationFormat>Widescreen</PresentationFormat>
  <Paragraphs>33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Bahnschrift Condensed</vt:lpstr>
      <vt:lpstr>Bahnschrift Light Condensed</vt:lpstr>
      <vt:lpstr>Calibri</vt:lpstr>
      <vt:lpstr>Calibri Light</vt:lpstr>
      <vt:lpstr>Office Theme</vt:lpstr>
      <vt:lpstr>Survival Analysis of the Titanic Dataset </vt:lpstr>
      <vt:lpstr>Survival Rate by Gender</vt:lpstr>
      <vt:lpstr>Survival Rate by Passenger Class</vt:lpstr>
      <vt:lpstr>Age Distribution by  Survival</vt:lpstr>
      <vt:lpstr>Fare Distribution by Survival</vt:lpstr>
      <vt:lpstr>Correlation Analysis </vt:lpstr>
      <vt:lpstr>Passenger Age Distribution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MUSTAFA SYED SIDDIQUE</dc:creator>
  <cp:lastModifiedBy>MUSTAFA SYED SIDDIQUE</cp:lastModifiedBy>
  <cp:revision>1</cp:revision>
  <dcterms:created xsi:type="dcterms:W3CDTF">2025-04-14T16:22:27Z</dcterms:created>
  <dcterms:modified xsi:type="dcterms:W3CDTF">2025-04-14T16:57:14Z</dcterms:modified>
</cp:coreProperties>
</file>